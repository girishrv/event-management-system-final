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8" r:id="rId4"/>
    <p:sldId id="257" r:id="rId5"/>
    <p:sldId id="261" r:id="rId6"/>
    <p:sldId id="260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rimo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A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38" y="53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855429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 Effective Smart Event Planner and Cost Management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5144376"/>
            <a:ext cx="12954952" cy="1573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Girish R V: 23BTRSN022         </a:t>
            </a:r>
          </a:p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Nilin Rose: 23BTRSN034      </a:t>
            </a:r>
          </a:p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Anamika H: 23BTRSN012     </a:t>
            </a:r>
          </a:p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Tanish </a:t>
            </a:r>
            <a:r>
              <a:rPr lang="en-US" sz="185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Balwal</a:t>
            </a: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L: 23BTRSN048  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5F3F28-88DE-C935-397C-7BC9D1DDBE41}"/>
              </a:ext>
            </a:extLst>
          </p:cNvPr>
          <p:cNvSpPr/>
          <p:nvPr/>
        </p:nvSpPr>
        <p:spPr>
          <a:xfrm>
            <a:off x="12760503" y="7569174"/>
            <a:ext cx="1767156" cy="554804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D115F93E-E102-3FE2-4D7B-C422A7697E3A}"/>
              </a:ext>
            </a:extLst>
          </p:cNvPr>
          <p:cNvSpPr/>
          <p:nvPr/>
        </p:nvSpPr>
        <p:spPr>
          <a:xfrm>
            <a:off x="837724" y="3570916"/>
            <a:ext cx="12954952" cy="1573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Branch: CE-SE</a:t>
            </a:r>
          </a:p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Guide: Dr S </a:t>
            </a:r>
            <a:r>
              <a:rPr lang="en-US" sz="185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Anthoniraj</a:t>
            </a:r>
            <a:endParaRPr lang="en-US" sz="1850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>
              <a:lnSpc>
                <a:spcPts val="3000"/>
              </a:lnSpc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Team: CoEPCL-0027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sp>
        <p:nvSpPr>
          <p:cNvPr id="3" name="Text 0"/>
          <p:cNvSpPr/>
          <p:nvPr/>
        </p:nvSpPr>
        <p:spPr>
          <a:xfrm>
            <a:off x="837724" y="87725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3D9AA40D-3D88-7D0B-9420-30EB4DEEF731}"/>
              </a:ext>
            </a:extLst>
          </p:cNvPr>
          <p:cNvSpPr/>
          <p:nvPr/>
        </p:nvSpPr>
        <p:spPr>
          <a:xfrm>
            <a:off x="837724" y="1935264"/>
            <a:ext cx="8039148" cy="5621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Event planning involves critical tasks such as vendor selection, budget allocation, attendance estimation, and discovering relevant events, all of which are traditionally done manually. </a:t>
            </a:r>
          </a:p>
          <a:p>
            <a:pPr marL="342900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Organizers spend significant time comparing vendors without data-driven trade-off analysis, leading to </a:t>
            </a:r>
            <a:r>
              <a:rPr lang="en-GB" sz="18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overspending</a:t>
            </a: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or </a:t>
            </a:r>
            <a:r>
              <a:rPr lang="en-GB" sz="18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poor event quality.</a:t>
            </a:r>
          </a:p>
          <a:p>
            <a:pPr marL="342900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Attendance predictions are often inaccurate, resulting in </a:t>
            </a:r>
            <a:r>
              <a:rPr lang="en-GB" sz="185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underbooked</a:t>
            </a: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or over-capacity venues. </a:t>
            </a:r>
          </a:p>
          <a:p>
            <a:pPr marL="342900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185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EventMS</a:t>
            </a: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addresses these challenges by integrating five machine learning algorithms:</a:t>
            </a:r>
          </a:p>
          <a:p>
            <a:pPr marL="800100" lvl="1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185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XSimGCL</a:t>
            </a: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and GNN-CF for personalized event recommendations</a:t>
            </a:r>
          </a:p>
          <a:p>
            <a:pPr marL="800100" lvl="1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MOEA/D-DRA-NEF for multi-objective budget optimization</a:t>
            </a:r>
          </a:p>
          <a:p>
            <a:pPr marL="800100" lvl="1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185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iTransformer</a:t>
            </a: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 attendance forecasting</a:t>
            </a:r>
          </a:p>
          <a:p>
            <a:pPr marL="800100" lvl="1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GAT+K-Means for community detection</a:t>
            </a:r>
          </a:p>
          <a:p>
            <a:pPr lvl="1" algn="just">
              <a:lnSpc>
                <a:spcPts val="3000"/>
              </a:lnSpc>
            </a:pP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into a unified platform connecting organizers, vendors, and attendees.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sp>
        <p:nvSpPr>
          <p:cNvPr id="4" name="Text 0"/>
          <p:cNvSpPr/>
          <p:nvPr/>
        </p:nvSpPr>
        <p:spPr>
          <a:xfrm>
            <a:off x="837724" y="109299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Abstract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837724" y="1935264"/>
            <a:ext cx="7810976" cy="5621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185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EventMS</a:t>
            </a: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is a scalable, role-based event management platform that integrates machine learning directly into the organizer workflow.</a:t>
            </a:r>
          </a:p>
          <a:p>
            <a:pPr marL="342900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system is planned with 5 core algorithms with 2 implemented so far: </a:t>
            </a:r>
          </a:p>
          <a:p>
            <a:pPr marL="800100" lvl="1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18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MOEA/D-DRA-NEF (IEEE2025): </a:t>
            </a: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 multi-objective budget optimization, generating optimal vendor bundles that simultaneously minimize cost, maximize quality, and maximize category coverage.</a:t>
            </a:r>
          </a:p>
          <a:p>
            <a:pPr marL="800100" lvl="1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1850" b="1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iTransformer</a:t>
            </a:r>
            <a:r>
              <a:rPr lang="en-GB" sz="18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(ICLR2024):</a:t>
            </a: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 attendance forecasting, predicts how many people will attend an event over the next 7 or 14 days.</a:t>
            </a:r>
          </a:p>
          <a:p>
            <a:pPr marL="342900" indent="-342900" algn="just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Future work will extend the ML layer with </a:t>
            </a:r>
            <a:r>
              <a:rPr lang="en-GB" sz="185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XSimGCL</a:t>
            </a: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and GNN-CF for personalized event recommendations, and GAT+K-Means for community detection.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62953"/>
            <a:ext cx="5350788" cy="66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Objectives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837724" y="1863804"/>
            <a:ext cx="4174331" cy="2860596"/>
          </a:xfrm>
          <a:prstGeom prst="roundRect">
            <a:avLst>
              <a:gd name="adj" fmla="val 1192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65133" y="2091214"/>
            <a:ext cx="682228" cy="682228"/>
          </a:xfrm>
          <a:prstGeom prst="roundRect">
            <a:avLst>
              <a:gd name="adj" fmla="val 13401804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2776" y="2278737"/>
            <a:ext cx="306943" cy="3069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5133" y="2989421"/>
            <a:ext cx="3719512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Automate Vendor Selection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65133" y="3453289"/>
            <a:ext cx="3719512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Apply optimization algorithms to identify optimal vendor combinations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28034" y="1863804"/>
            <a:ext cx="4174331" cy="2860596"/>
          </a:xfrm>
          <a:prstGeom prst="roundRect">
            <a:avLst>
              <a:gd name="adj" fmla="val 1192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455444" y="2091214"/>
            <a:ext cx="682228" cy="682228"/>
          </a:xfrm>
          <a:prstGeom prst="roundRect">
            <a:avLst>
              <a:gd name="adj" fmla="val 13401804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43086" y="2278737"/>
            <a:ext cx="306943" cy="3069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5444" y="2989421"/>
            <a:ext cx="2875240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Forecast Attendance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5455444" y="3453289"/>
            <a:ext cx="3719512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GB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Forecast event turnout over 7–14 day horizons with confidence intervals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18345" y="1863804"/>
            <a:ext cx="4174331" cy="2860596"/>
          </a:xfrm>
          <a:prstGeom prst="roundRect">
            <a:avLst>
              <a:gd name="adj" fmla="val 1192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9845754" y="2091214"/>
            <a:ext cx="682228" cy="682228"/>
          </a:xfrm>
          <a:prstGeom prst="roundRect">
            <a:avLst>
              <a:gd name="adj" fmla="val 13401804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33397" y="2278737"/>
            <a:ext cx="306943" cy="30694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45754" y="2989421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Optimize Budgets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9845754" y="3453288"/>
            <a:ext cx="3719512" cy="996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GB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Generate cost-quality trade-off bundles within organizer budget constraints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837724" y="4940379"/>
            <a:ext cx="4174332" cy="2526268"/>
          </a:xfrm>
          <a:prstGeom prst="roundRect">
            <a:avLst>
              <a:gd name="adj" fmla="val 1350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1065133" y="5167789"/>
            <a:ext cx="682228" cy="682228"/>
          </a:xfrm>
          <a:prstGeom prst="roundRect">
            <a:avLst>
              <a:gd name="adj" fmla="val 13401804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52776" y="5355312"/>
            <a:ext cx="306943" cy="30694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65133" y="6065996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Unified Platform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1065133" y="6529864"/>
            <a:ext cx="3719512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Connect organizers and vendors through integrated system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5239465" y="4940379"/>
            <a:ext cx="4174331" cy="2526268"/>
          </a:xfrm>
          <a:prstGeom prst="roundRect">
            <a:avLst>
              <a:gd name="adj" fmla="val 1350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5465095" y="5153897"/>
            <a:ext cx="682228" cy="682228"/>
          </a:xfrm>
          <a:prstGeom prst="roundRect">
            <a:avLst>
              <a:gd name="adj" fmla="val 13401804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51871" y="5341539"/>
            <a:ext cx="306943" cy="30694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65095" y="6099170"/>
            <a:ext cx="280618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Evaluate &amp; Report</a:t>
            </a:r>
            <a:endParaRPr lang="en-US" sz="2100" dirty="0"/>
          </a:p>
        </p:txBody>
      </p:sp>
      <p:sp>
        <p:nvSpPr>
          <p:cNvPr id="27" name="Text 20"/>
          <p:cNvSpPr/>
          <p:nvPr/>
        </p:nvSpPr>
        <p:spPr>
          <a:xfrm>
            <a:off x="5465095" y="6563038"/>
            <a:ext cx="3709861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GB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Built-in Algorithm Lab for running,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GB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evaluating, and exporting ML results</a:t>
            </a:r>
            <a:endParaRPr lang="en-US" sz="17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71DB68-D548-1D14-F517-21A65521467B}"/>
              </a:ext>
            </a:extLst>
          </p:cNvPr>
          <p:cNvSpPr/>
          <p:nvPr/>
        </p:nvSpPr>
        <p:spPr>
          <a:xfrm>
            <a:off x="12760503" y="7589722"/>
            <a:ext cx="1767156" cy="554804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3B8E5EBC-A7CC-6A1D-60CA-C6EB5F00B429}"/>
              </a:ext>
            </a:extLst>
          </p:cNvPr>
          <p:cNvSpPr/>
          <p:nvPr/>
        </p:nvSpPr>
        <p:spPr>
          <a:xfrm>
            <a:off x="9618345" y="4935498"/>
            <a:ext cx="4174331" cy="2531149"/>
          </a:xfrm>
          <a:prstGeom prst="roundRect">
            <a:avLst>
              <a:gd name="adj" fmla="val 1192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715DBA49-A5B4-ECA4-A99F-E09152C24ABF}"/>
              </a:ext>
            </a:extLst>
          </p:cNvPr>
          <p:cNvSpPr/>
          <p:nvPr/>
        </p:nvSpPr>
        <p:spPr>
          <a:xfrm>
            <a:off x="9845754" y="5162908"/>
            <a:ext cx="682228" cy="682228"/>
          </a:xfrm>
          <a:prstGeom prst="roundRect">
            <a:avLst>
              <a:gd name="adj" fmla="val 13401804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0" descr="preencoded.png">
            <a:extLst>
              <a:ext uri="{FF2B5EF4-FFF2-40B4-BE49-F238E27FC236}">
                <a16:creationId xmlns:a16="http://schemas.microsoft.com/office/drawing/2014/main" id="{157AC9E7-1DC8-78E2-BE11-DEAE3858C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33397" y="5350431"/>
            <a:ext cx="306943" cy="306943"/>
          </a:xfrm>
          <a:prstGeom prst="rect">
            <a:avLst/>
          </a:prstGeom>
        </p:spPr>
      </p:pic>
      <p:sp>
        <p:nvSpPr>
          <p:cNvPr id="32" name="Text 19">
            <a:extLst>
              <a:ext uri="{FF2B5EF4-FFF2-40B4-BE49-F238E27FC236}">
                <a16:creationId xmlns:a16="http://schemas.microsoft.com/office/drawing/2014/main" id="{DFE59496-38D3-BAC0-8868-2FF9B5E6BC65}"/>
              </a:ext>
            </a:extLst>
          </p:cNvPr>
          <p:cNvSpPr/>
          <p:nvPr/>
        </p:nvSpPr>
        <p:spPr>
          <a:xfrm>
            <a:off x="9855405" y="5979556"/>
            <a:ext cx="280618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 Event Assistant</a:t>
            </a:r>
            <a:endParaRPr lang="en-US" sz="2100" dirty="0"/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84D10C02-1B2A-5362-ABC9-383084AFEA2C}"/>
              </a:ext>
            </a:extLst>
          </p:cNvPr>
          <p:cNvSpPr/>
          <p:nvPr/>
        </p:nvSpPr>
        <p:spPr>
          <a:xfrm>
            <a:off x="9855405" y="6300073"/>
            <a:ext cx="3709861" cy="701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GB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Context-aware chatbot to help users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GB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discover events and answer queries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GB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 real time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456" y="605432"/>
            <a:ext cx="609969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Problem Statement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56" y="1685330"/>
            <a:ext cx="1196816" cy="18838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73856" y="182641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Vendor Problem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98205" y="2226171"/>
            <a:ext cx="1021129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Organizers must manually compare dozens of vendors across cost, quality, and category 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way to find the best trade-off objectively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Leads to overspending or poor service quality</a:t>
            </a:r>
            <a:endParaRPr lang="en-US" sz="1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3" y="3497282"/>
            <a:ext cx="1196816" cy="18838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73856" y="3807143"/>
            <a:ext cx="322564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Attendance Problem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2273856" y="4206896"/>
            <a:ext cx="115188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reliable way to predict turnout before the event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Results in overbooking (wasted resources) or </a:t>
            </a:r>
            <a:r>
              <a:rPr lang="en-GB" sz="185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underbooking</a:t>
            </a: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(poor attendee experience and lost revenue)</a:t>
            </a:r>
            <a:endParaRPr lang="en-US" sz="1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456" y="5302032"/>
            <a:ext cx="1196816" cy="143625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73856" y="539237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Discovery Problem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2273856" y="5798168"/>
            <a:ext cx="115188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Attendees struggle to find relevant events matching their interests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New users get no personalized suggestions — everyone sees the same generic listings</a:t>
            </a:r>
            <a:endParaRPr lang="en-US" sz="18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02ED85-2CCB-40A0-EB6C-B674D49C8507}"/>
              </a:ext>
            </a:extLst>
          </p:cNvPr>
          <p:cNvSpPr/>
          <p:nvPr/>
        </p:nvSpPr>
        <p:spPr>
          <a:xfrm>
            <a:off x="12760503" y="7569174"/>
            <a:ext cx="1767156" cy="554804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7244" y="62785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Related Work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8204" y="1435060"/>
            <a:ext cx="4158734" cy="2184202"/>
          </a:xfrm>
          <a:prstGeom prst="roundRect">
            <a:avLst>
              <a:gd name="adj" fmla="val 6698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37724" y="1435060"/>
            <a:ext cx="121920" cy="2184202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229439" y="1601669"/>
            <a:ext cx="319551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Event-Based Social Networks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29439" y="1979554"/>
            <a:ext cx="3634661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GB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Liu et al. (2012, KDD) and Qiao et al. (2014, WWW) — linking online/offline social worlds and location-based event recommendations</a:t>
            </a:r>
            <a:endParaRPr lang="en-US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5CB4D7-FA3B-D7D4-F234-2A7C2D5BB44E}"/>
              </a:ext>
            </a:extLst>
          </p:cNvPr>
          <p:cNvSpPr/>
          <p:nvPr/>
        </p:nvSpPr>
        <p:spPr>
          <a:xfrm>
            <a:off x="12760503" y="7569174"/>
            <a:ext cx="1767156" cy="554804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CEE1E308-C835-D0AC-073D-32746FD260FF}"/>
              </a:ext>
            </a:extLst>
          </p:cNvPr>
          <p:cNvSpPr/>
          <p:nvPr/>
        </p:nvSpPr>
        <p:spPr>
          <a:xfrm>
            <a:off x="807243" y="6223564"/>
            <a:ext cx="13143069" cy="1517450"/>
          </a:xfrm>
          <a:prstGeom prst="roundRect">
            <a:avLst>
              <a:gd name="adj" fmla="val 6698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969E0D58-2599-69E2-A480-77F8932F5913}"/>
              </a:ext>
            </a:extLst>
          </p:cNvPr>
          <p:cNvSpPr/>
          <p:nvPr/>
        </p:nvSpPr>
        <p:spPr>
          <a:xfrm>
            <a:off x="809308" y="6223564"/>
            <a:ext cx="121920" cy="1517450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4A13E762-1EDE-EEF7-98B6-EC7F81BB51DF}"/>
              </a:ext>
            </a:extLst>
          </p:cNvPr>
          <p:cNvSpPr/>
          <p:nvPr/>
        </p:nvSpPr>
        <p:spPr>
          <a:xfrm>
            <a:off x="1229439" y="6639333"/>
            <a:ext cx="10963360" cy="313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Research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Gap </a:t>
            </a:r>
            <a:endParaRPr lang="en-US" sz="22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BF6C23D1-1260-2FE0-6A85-C5894307E4AC}"/>
              </a:ext>
            </a:extLst>
          </p:cNvPr>
          <p:cNvSpPr/>
          <p:nvPr/>
        </p:nvSpPr>
        <p:spPr>
          <a:xfrm>
            <a:off x="2986952" y="6465368"/>
            <a:ext cx="10834140" cy="1136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GB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Existing work addresses individual aspects in isolation — no unified platform integrating budget optimization, attendance forecasting, personalized recommendations, and community detection for event management</a:t>
            </a:r>
            <a:endParaRPr lang="en-US" sz="1850" dirty="0"/>
          </a:p>
        </p:txBody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45C912DA-DDEA-6E4B-6230-5A2702EC6FB8}"/>
              </a:ext>
            </a:extLst>
          </p:cNvPr>
          <p:cNvSpPr/>
          <p:nvPr/>
        </p:nvSpPr>
        <p:spPr>
          <a:xfrm>
            <a:off x="5327213" y="1435060"/>
            <a:ext cx="4158734" cy="2184202"/>
          </a:xfrm>
          <a:prstGeom prst="roundRect">
            <a:avLst>
              <a:gd name="adj" fmla="val 6698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">
            <a:extLst>
              <a:ext uri="{FF2B5EF4-FFF2-40B4-BE49-F238E27FC236}">
                <a16:creationId xmlns:a16="http://schemas.microsoft.com/office/drawing/2014/main" id="{30B24A51-DE53-420E-4024-FD22A6437E06}"/>
              </a:ext>
            </a:extLst>
          </p:cNvPr>
          <p:cNvSpPr/>
          <p:nvPr/>
        </p:nvSpPr>
        <p:spPr>
          <a:xfrm>
            <a:off x="5296733" y="1435060"/>
            <a:ext cx="121920" cy="2184202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02D85F53-C235-E700-A546-506B974FA5E1}"/>
              </a:ext>
            </a:extLst>
          </p:cNvPr>
          <p:cNvSpPr/>
          <p:nvPr/>
        </p:nvSpPr>
        <p:spPr>
          <a:xfrm>
            <a:off x="5688448" y="1601669"/>
            <a:ext cx="319551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Multi-Objective Optimization</a:t>
            </a:r>
            <a:endParaRPr lang="en-US" sz="22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B5742EB5-7532-7D12-A77D-452A5AD3807B}"/>
              </a:ext>
            </a:extLst>
          </p:cNvPr>
          <p:cNvSpPr/>
          <p:nvPr/>
        </p:nvSpPr>
        <p:spPr>
          <a:xfrm>
            <a:off x="5688448" y="1979554"/>
            <a:ext cx="3634661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GB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MOEA/D (Zhang &amp; Li, 2007) extended with dynamic resource allocation and neighbourhood-enhanced fitness — MOEA/D-DRA-NEF (Tan et al., 2025)</a:t>
            </a:r>
            <a:endParaRPr lang="en-US" sz="1600" dirty="0"/>
          </a:p>
        </p:txBody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7DBDC62A-5F2A-F10D-943A-91ABC1CA0093}"/>
              </a:ext>
            </a:extLst>
          </p:cNvPr>
          <p:cNvSpPr/>
          <p:nvPr/>
        </p:nvSpPr>
        <p:spPr>
          <a:xfrm>
            <a:off x="9791579" y="1435060"/>
            <a:ext cx="4158734" cy="2184202"/>
          </a:xfrm>
          <a:prstGeom prst="roundRect">
            <a:avLst>
              <a:gd name="adj" fmla="val 6698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72DC4EE3-74A3-C4F0-55DF-E441A660AFF0}"/>
              </a:ext>
            </a:extLst>
          </p:cNvPr>
          <p:cNvSpPr/>
          <p:nvPr/>
        </p:nvSpPr>
        <p:spPr>
          <a:xfrm>
            <a:off x="9761099" y="1435060"/>
            <a:ext cx="121920" cy="2184202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F89D65C8-DA87-73F1-C8C3-DC677D750CCD}"/>
              </a:ext>
            </a:extLst>
          </p:cNvPr>
          <p:cNvSpPr/>
          <p:nvPr/>
        </p:nvSpPr>
        <p:spPr>
          <a:xfrm>
            <a:off x="10152814" y="1601669"/>
            <a:ext cx="319551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Time Series Forecasting</a:t>
            </a:r>
            <a:endParaRPr lang="en-US" sz="2200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9B07698A-F0B6-D30C-AED4-3BEA2AFA4A0B}"/>
              </a:ext>
            </a:extLst>
          </p:cNvPr>
          <p:cNvSpPr/>
          <p:nvPr/>
        </p:nvSpPr>
        <p:spPr>
          <a:xfrm>
            <a:off x="10152814" y="1979554"/>
            <a:ext cx="3634661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GB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Informer (Zhou et al., 2021) evolved to </a:t>
            </a:r>
            <a:r>
              <a:rPr lang="en-GB" sz="160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iTransformer</a:t>
            </a:r>
            <a:r>
              <a:rPr lang="en-GB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(Liu et al., 2024, ICLR) — SOTA inverted attention mechanism treating each time step as a token</a:t>
            </a:r>
            <a:endParaRPr lang="en-US" sz="1600" dirty="0"/>
          </a:p>
        </p:txBody>
      </p:sp>
      <p:sp>
        <p:nvSpPr>
          <p:cNvPr id="46" name="Shape 1">
            <a:extLst>
              <a:ext uri="{FF2B5EF4-FFF2-40B4-BE49-F238E27FC236}">
                <a16:creationId xmlns:a16="http://schemas.microsoft.com/office/drawing/2014/main" id="{BD3F96D5-5554-9EA6-7D8A-23040C1450C7}"/>
              </a:ext>
            </a:extLst>
          </p:cNvPr>
          <p:cNvSpPr/>
          <p:nvPr/>
        </p:nvSpPr>
        <p:spPr>
          <a:xfrm>
            <a:off x="868204" y="3829312"/>
            <a:ext cx="4158734" cy="2184202"/>
          </a:xfrm>
          <a:prstGeom prst="roundRect">
            <a:avLst>
              <a:gd name="adj" fmla="val 6698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2">
            <a:extLst>
              <a:ext uri="{FF2B5EF4-FFF2-40B4-BE49-F238E27FC236}">
                <a16:creationId xmlns:a16="http://schemas.microsoft.com/office/drawing/2014/main" id="{A675B5EE-0DB2-A797-FF01-585BF5D1F0AF}"/>
              </a:ext>
            </a:extLst>
          </p:cNvPr>
          <p:cNvSpPr/>
          <p:nvPr/>
        </p:nvSpPr>
        <p:spPr>
          <a:xfrm>
            <a:off x="837724" y="3829312"/>
            <a:ext cx="121920" cy="2184202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3">
            <a:extLst>
              <a:ext uri="{FF2B5EF4-FFF2-40B4-BE49-F238E27FC236}">
                <a16:creationId xmlns:a16="http://schemas.microsoft.com/office/drawing/2014/main" id="{5CA04BB2-CC75-CC70-444A-B6D2B1980655}"/>
              </a:ext>
            </a:extLst>
          </p:cNvPr>
          <p:cNvSpPr/>
          <p:nvPr/>
        </p:nvSpPr>
        <p:spPr>
          <a:xfrm>
            <a:off x="1229439" y="3995921"/>
            <a:ext cx="319551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Graph-Based Rec…</a:t>
            </a:r>
            <a:endParaRPr lang="en-US" sz="2200" dirty="0"/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799C80F9-0678-CB5F-3C29-FAE123359F45}"/>
              </a:ext>
            </a:extLst>
          </p:cNvPr>
          <p:cNvSpPr/>
          <p:nvPr/>
        </p:nvSpPr>
        <p:spPr>
          <a:xfrm>
            <a:off x="1229439" y="4373806"/>
            <a:ext cx="3634661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GB" sz="160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LightGCN</a:t>
            </a:r>
            <a:r>
              <a:rPr lang="en-GB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(He et al., 2020) extended with contrastive learning in </a:t>
            </a:r>
            <a:r>
              <a:rPr lang="en-GB" sz="160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XSimGCL</a:t>
            </a:r>
            <a:r>
              <a:rPr lang="en-GB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(Yu et al., 2024); GNN-CF (Goel &amp; Sinha, 2024) for cold-start users</a:t>
            </a:r>
            <a:endParaRPr lang="en-US" sz="1600" dirty="0"/>
          </a:p>
        </p:txBody>
      </p:sp>
      <p:sp>
        <p:nvSpPr>
          <p:cNvPr id="50" name="Shape 1">
            <a:extLst>
              <a:ext uri="{FF2B5EF4-FFF2-40B4-BE49-F238E27FC236}">
                <a16:creationId xmlns:a16="http://schemas.microsoft.com/office/drawing/2014/main" id="{BDB5EA1A-2922-8DA8-0B41-92B98C963C00}"/>
              </a:ext>
            </a:extLst>
          </p:cNvPr>
          <p:cNvSpPr/>
          <p:nvPr/>
        </p:nvSpPr>
        <p:spPr>
          <a:xfrm>
            <a:off x="5327213" y="3829312"/>
            <a:ext cx="4158734" cy="2184202"/>
          </a:xfrm>
          <a:prstGeom prst="roundRect">
            <a:avLst>
              <a:gd name="adj" fmla="val 6698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2">
            <a:extLst>
              <a:ext uri="{FF2B5EF4-FFF2-40B4-BE49-F238E27FC236}">
                <a16:creationId xmlns:a16="http://schemas.microsoft.com/office/drawing/2014/main" id="{4A790A08-638A-63AA-D275-2B74A85A500D}"/>
              </a:ext>
            </a:extLst>
          </p:cNvPr>
          <p:cNvSpPr/>
          <p:nvPr/>
        </p:nvSpPr>
        <p:spPr>
          <a:xfrm>
            <a:off x="5296733" y="3829312"/>
            <a:ext cx="121920" cy="2184202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3">
            <a:extLst>
              <a:ext uri="{FF2B5EF4-FFF2-40B4-BE49-F238E27FC236}">
                <a16:creationId xmlns:a16="http://schemas.microsoft.com/office/drawing/2014/main" id="{39964511-4597-CFDF-481C-37B921874B1E}"/>
              </a:ext>
            </a:extLst>
          </p:cNvPr>
          <p:cNvSpPr/>
          <p:nvPr/>
        </p:nvSpPr>
        <p:spPr>
          <a:xfrm>
            <a:off x="5688448" y="3995921"/>
            <a:ext cx="319551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Community Detection</a:t>
            </a:r>
            <a:endParaRPr lang="en-US" sz="2200" dirty="0"/>
          </a:p>
        </p:txBody>
      </p:sp>
      <p:sp>
        <p:nvSpPr>
          <p:cNvPr id="53" name="Text 4">
            <a:extLst>
              <a:ext uri="{FF2B5EF4-FFF2-40B4-BE49-F238E27FC236}">
                <a16:creationId xmlns:a16="http://schemas.microsoft.com/office/drawing/2014/main" id="{0C9F7BB0-835E-986A-7CF6-6017A5C391F2}"/>
              </a:ext>
            </a:extLst>
          </p:cNvPr>
          <p:cNvSpPr/>
          <p:nvPr/>
        </p:nvSpPr>
        <p:spPr>
          <a:xfrm>
            <a:off x="5688448" y="4373806"/>
            <a:ext cx="3634661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GB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GAT (</a:t>
            </a:r>
            <a:r>
              <a:rPr lang="en-GB" sz="160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Veličković</a:t>
            </a:r>
            <a:r>
              <a:rPr lang="en-GB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et al., 2018) combined with K-Means clustering for graph-based community detection (</a:t>
            </a:r>
            <a:r>
              <a:rPr lang="en-GB" sz="160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Ippatapu</a:t>
            </a:r>
            <a:r>
              <a:rPr lang="en-GB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&amp; Bhadra, 2024)</a:t>
            </a:r>
            <a:endParaRPr lang="en-US" sz="1600" dirty="0"/>
          </a:p>
        </p:txBody>
      </p:sp>
      <p:sp>
        <p:nvSpPr>
          <p:cNvPr id="54" name="Shape 1">
            <a:extLst>
              <a:ext uri="{FF2B5EF4-FFF2-40B4-BE49-F238E27FC236}">
                <a16:creationId xmlns:a16="http://schemas.microsoft.com/office/drawing/2014/main" id="{2F83BC58-E928-7716-C19D-DD4E32BE0B30}"/>
              </a:ext>
            </a:extLst>
          </p:cNvPr>
          <p:cNvSpPr/>
          <p:nvPr/>
        </p:nvSpPr>
        <p:spPr>
          <a:xfrm>
            <a:off x="9791579" y="3829312"/>
            <a:ext cx="4158734" cy="2184202"/>
          </a:xfrm>
          <a:prstGeom prst="roundRect">
            <a:avLst>
              <a:gd name="adj" fmla="val 6698"/>
            </a:avLst>
          </a:prstGeom>
          <a:solidFill>
            <a:srgbClr val="0C0A33"/>
          </a:solidFill>
          <a:ln w="30480">
            <a:solidFill>
              <a:srgbClr val="4442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2">
            <a:extLst>
              <a:ext uri="{FF2B5EF4-FFF2-40B4-BE49-F238E27FC236}">
                <a16:creationId xmlns:a16="http://schemas.microsoft.com/office/drawing/2014/main" id="{A46B67E3-689C-211F-9820-24287018E961}"/>
              </a:ext>
            </a:extLst>
          </p:cNvPr>
          <p:cNvSpPr/>
          <p:nvPr/>
        </p:nvSpPr>
        <p:spPr>
          <a:xfrm>
            <a:off x="9761099" y="3829312"/>
            <a:ext cx="121920" cy="2184202"/>
          </a:xfrm>
          <a:prstGeom prst="roundRect">
            <a:avLst>
              <a:gd name="adj" fmla="val 29451"/>
            </a:avLst>
          </a:prstGeom>
          <a:solidFill>
            <a:srgbClr val="8061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D2A11AC3-A8CE-F4DB-C05D-FB8D01F7CB4D}"/>
              </a:ext>
            </a:extLst>
          </p:cNvPr>
          <p:cNvSpPr/>
          <p:nvPr/>
        </p:nvSpPr>
        <p:spPr>
          <a:xfrm>
            <a:off x="10152814" y="3995921"/>
            <a:ext cx="319551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Dynamic User Modeling</a:t>
            </a:r>
            <a:endParaRPr lang="en-US" sz="2200" dirty="0"/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BCDEB954-80DF-752E-D37F-3C17257FAC2B}"/>
              </a:ext>
            </a:extLst>
          </p:cNvPr>
          <p:cNvSpPr/>
          <p:nvPr/>
        </p:nvSpPr>
        <p:spPr>
          <a:xfrm>
            <a:off x="10152814" y="4373806"/>
            <a:ext cx="3634661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GB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Yin et al. (2015) and Lu et al. (2015) — social-aware location discovery and dynamic user preference </a:t>
            </a:r>
            <a:r>
              <a:rPr lang="en-GB" sz="160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modeling</a:t>
            </a:r>
            <a:r>
              <a:rPr lang="en-GB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in event networks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6465" y="816497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Proposed Work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14506" y="1862844"/>
            <a:ext cx="283940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 err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EventMS</a:t>
            </a: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2390768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37724" y="2652944"/>
            <a:ext cx="6357818" cy="30480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en-IN" sz="1200"/>
          </a:p>
        </p:txBody>
      </p:sp>
      <p:sp>
        <p:nvSpPr>
          <p:cNvPr id="6" name="Text 4"/>
          <p:cNvSpPr/>
          <p:nvPr/>
        </p:nvSpPr>
        <p:spPr>
          <a:xfrm>
            <a:off x="837724" y="283356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Budget Optimizer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7723" y="3185510"/>
            <a:ext cx="6357818" cy="929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Uses MOEA/D-DRA-NEF (IEEE 2025) — multi-objective evolutionary optimization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Generates 3–5 Pareto-optimal vendor bundles: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7724" y="3704793"/>
            <a:ext cx="6357818" cy="131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Budget option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Best value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Premium option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7723" y="4757203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9E1FF"/>
                </a:solidFill>
                <a:latin typeface="Syne Light" pitchFamily="34" charset="0"/>
                <a:ea typeface="Syne Light" pitchFamily="34" charset="-122"/>
                <a:cs typeface="Syne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7723" y="5044958"/>
            <a:ext cx="6357818" cy="30480"/>
          </a:xfrm>
          <a:prstGeom prst="rect">
            <a:avLst/>
          </a:prstGeom>
          <a:solidFill>
            <a:srgbClr val="8061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2" name="Text 10"/>
          <p:cNvSpPr/>
          <p:nvPr/>
        </p:nvSpPr>
        <p:spPr>
          <a:xfrm>
            <a:off x="837723" y="5199996"/>
            <a:ext cx="357770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Attendance Forecaster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7723" y="5574440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GB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Uses </a:t>
            </a:r>
            <a:r>
              <a:rPr lang="en-GB" sz="140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iTransformer</a:t>
            </a:r>
            <a:r>
              <a:rPr lang="en-GB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(ICLR 2024) — inverted attention over time steps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7723" y="5859435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Outputs: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7723" y="6100693"/>
            <a:ext cx="6357818" cy="131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GB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Daily predictions with confidence intervals</a:t>
            </a:r>
          </a:p>
          <a:p>
            <a:pPr marL="342900" indent="-342900" algn="l">
              <a:buSzPct val="100000"/>
              <a:buChar char="•"/>
            </a:pPr>
            <a:r>
              <a:rPr lang="en-GB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Trend detection (increasing / decreasing / stable)</a:t>
            </a:r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Recommended capacity</a:t>
            </a:r>
            <a:endParaRPr 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BD6BE7-EE69-8AA7-F45A-28A8DBFB04AF}"/>
              </a:ext>
            </a:extLst>
          </p:cNvPr>
          <p:cNvSpPr/>
          <p:nvPr/>
        </p:nvSpPr>
        <p:spPr>
          <a:xfrm>
            <a:off x="12760503" y="7569174"/>
            <a:ext cx="1767156" cy="554804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C6A75AE3-AB38-F83F-96EA-97DB0F27F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86872"/>
            <a:ext cx="5989558" cy="66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System Architecture </a:t>
            </a:r>
            <a:r>
              <a:rPr lang="en-US" sz="1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(</a:t>
            </a:r>
            <a:r>
              <a:rPr lang="en-US" sz="1600" b="1" dirty="0" err="1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wip</a:t>
            </a:r>
            <a:r>
              <a:rPr lang="en-US" sz="1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)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224320" y="1787723"/>
            <a:ext cx="6028253" cy="227409"/>
          </a:xfrm>
          <a:prstGeom prst="roundRect">
            <a:avLst>
              <a:gd name="adj" fmla="val 15000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83206" y="1560314"/>
            <a:ext cx="682228" cy="682228"/>
          </a:xfrm>
          <a:prstGeom prst="roundRect">
            <a:avLst>
              <a:gd name="adj" fmla="val 67016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703" y="1730930"/>
            <a:ext cx="341114" cy="3411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5434" y="2124193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Frontend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565434" y="2461518"/>
            <a:ext cx="5914668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React / Next.js dashboards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 roles: Customer, Vendor, Admin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Chatbot (</a:t>
            </a:r>
            <a:r>
              <a:rPr lang="en-US" sz="175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HuggingFace</a:t>
            </a: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LLM)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764304" y="1787723"/>
            <a:ext cx="6028253" cy="227409"/>
          </a:xfrm>
          <a:prstGeom prst="roundRect">
            <a:avLst>
              <a:gd name="adj" fmla="val 15000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423190" y="1560313"/>
            <a:ext cx="682228" cy="682228"/>
          </a:xfrm>
          <a:prstGeom prst="roundRect">
            <a:avLst>
              <a:gd name="adj" fmla="val 67016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3687" y="1730930"/>
            <a:ext cx="341114" cy="3411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05418" y="2075378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API Layer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8105418" y="2435304"/>
            <a:ext cx="5914668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GB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Budget optimization API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GB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Forecasting API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GB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Chat API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1226641" y="4320467"/>
            <a:ext cx="6028253" cy="227409"/>
          </a:xfrm>
          <a:prstGeom prst="roundRect">
            <a:avLst>
              <a:gd name="adj" fmla="val 15000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85527" y="4080506"/>
            <a:ext cx="682228" cy="682228"/>
          </a:xfrm>
          <a:prstGeom prst="roundRect">
            <a:avLst>
              <a:gd name="adj" fmla="val 67016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6024" y="4263674"/>
            <a:ext cx="341114" cy="34111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67755" y="4672892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Algorithm Layer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1567755" y="5047463"/>
            <a:ext cx="5914668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MOEA/D-DRA-NEF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	— budget optimization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iTransformer</a:t>
            </a: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	— attendance forecasting</a:t>
            </a:r>
            <a:endParaRPr lang="en-US" sz="1750" dirty="0"/>
          </a:p>
        </p:txBody>
      </p:sp>
      <p:sp>
        <p:nvSpPr>
          <p:cNvPr id="21" name="Shape 16"/>
          <p:cNvSpPr/>
          <p:nvPr/>
        </p:nvSpPr>
        <p:spPr>
          <a:xfrm>
            <a:off x="7789488" y="4321453"/>
            <a:ext cx="6028253" cy="227409"/>
          </a:xfrm>
          <a:prstGeom prst="roundRect">
            <a:avLst>
              <a:gd name="adj" fmla="val 15000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7448374" y="4081492"/>
            <a:ext cx="682228" cy="682228"/>
          </a:xfrm>
          <a:prstGeom prst="roundRect">
            <a:avLst>
              <a:gd name="adj" fmla="val 67016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18931" y="4274119"/>
            <a:ext cx="341114" cy="34111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194598" y="4674480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Backend</a:t>
            </a:r>
            <a:endParaRPr lang="en-US" sz="2100" dirty="0"/>
          </a:p>
        </p:txBody>
      </p:sp>
      <p:sp>
        <p:nvSpPr>
          <p:cNvPr id="25" name="Text 19"/>
          <p:cNvSpPr/>
          <p:nvPr/>
        </p:nvSpPr>
        <p:spPr>
          <a:xfrm>
            <a:off x="8194598" y="5047462"/>
            <a:ext cx="5914668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GB" sz="175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Supabase</a:t>
            </a:r>
            <a:r>
              <a:rPr lang="en-GB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(PostgreSQL)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GB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Authentication + Storage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GB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Row-Level Security (RLS)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en-GB" sz="1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Algorithm result caching</a:t>
            </a:r>
            <a:endParaRPr lang="en-US" sz="17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8308F9-E3F3-7D79-60B2-796B8D3760C7}"/>
              </a:ext>
            </a:extLst>
          </p:cNvPr>
          <p:cNvSpPr/>
          <p:nvPr/>
        </p:nvSpPr>
        <p:spPr>
          <a:xfrm>
            <a:off x="12760503" y="7569174"/>
            <a:ext cx="1767156" cy="554804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sp>
        <p:nvSpPr>
          <p:cNvPr id="3" name="Text 0"/>
          <p:cNvSpPr/>
          <p:nvPr/>
        </p:nvSpPr>
        <p:spPr>
          <a:xfrm>
            <a:off x="6307206" y="50811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Outputs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7817" y="137862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Budget Optimizer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327817" y="1730574"/>
            <a:ext cx="7738994" cy="131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3–5 Pareto-optimal vendor bundles (Budget Pick, Best Value, Premium)</a:t>
            </a: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Cost vs. quality vs. coverage trade-off analysis</a:t>
            </a: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Category coverage guarantee for required vendor types</a:t>
            </a: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Optimizes across 200 vendor candidates simultaneously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07205" y="3315851"/>
            <a:ext cx="3442335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Attendance Forecaster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307205" y="3667800"/>
            <a:ext cx="7738994" cy="2166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GB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Daily predictions over 7 or 14-day horizons</a:t>
            </a: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GB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Configurable confidence intervals (80%–99%)</a:t>
            </a: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GB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Trend detection: increasing / decreasing / stable</a:t>
            </a: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GB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Recommended venue capacity based on upper-bound prediction</a:t>
            </a:r>
            <a:endParaRPr 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7D4446-B4E8-E4C7-74B5-0DDB41CE388D}"/>
              </a:ext>
            </a:extLst>
          </p:cNvPr>
          <p:cNvSpPr/>
          <p:nvPr/>
        </p:nvSpPr>
        <p:spPr>
          <a:xfrm>
            <a:off x="12760503" y="7569174"/>
            <a:ext cx="1767156" cy="554804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A36CE8-29BD-12D8-25DF-BE3B4344C194}"/>
              </a:ext>
            </a:extLst>
          </p:cNvPr>
          <p:cNvSpPr/>
          <p:nvPr/>
        </p:nvSpPr>
        <p:spPr>
          <a:xfrm>
            <a:off x="6307204" y="5253077"/>
            <a:ext cx="3442335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Platform Outputs</a:t>
            </a:r>
            <a:endParaRPr lang="en-US" sz="2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6BB1B4D3-1042-6ADC-C9A9-B95C7914F4F6}"/>
              </a:ext>
            </a:extLst>
          </p:cNvPr>
          <p:cNvSpPr/>
          <p:nvPr/>
        </p:nvSpPr>
        <p:spPr>
          <a:xfrm>
            <a:off x="6327817" y="5605026"/>
            <a:ext cx="7738994" cy="2166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GB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Role-based dashboards for organizers, vendors, and admins</a:t>
            </a: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GB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chatbot for real-time event assistance</a:t>
            </a: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GB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Algorithm Lab with exportable reports (JSON, CSV, PDF)</a:t>
            </a: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GB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Result caching with automatic expiry (30–60 min TTL)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">
            <a:extLst>
              <a:ext uri="{FF2B5EF4-FFF2-40B4-BE49-F238E27FC236}">
                <a16:creationId xmlns:a16="http://schemas.microsoft.com/office/drawing/2014/main" id="{E7B5B464-23F5-AA60-A1CF-107C58CEECEC}"/>
              </a:ext>
            </a:extLst>
          </p:cNvPr>
          <p:cNvSpPr/>
          <p:nvPr/>
        </p:nvSpPr>
        <p:spPr>
          <a:xfrm>
            <a:off x="837724" y="4924324"/>
            <a:ext cx="12954952" cy="2848076"/>
          </a:xfrm>
          <a:prstGeom prst="roundRect">
            <a:avLst>
              <a:gd name="adj" fmla="val 1302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837724" y="718185"/>
            <a:ext cx="802576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 &amp; Future Work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1900952"/>
            <a:ext cx="6357818" cy="2757368"/>
          </a:xfrm>
          <a:prstGeom prst="roundRect">
            <a:avLst>
              <a:gd name="adj" fmla="val 1302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77039" y="201697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7039" y="2295682"/>
            <a:ext cx="5879187" cy="131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Eliminates guesswork in vendor selection with MOEA/D-DRA-NEF optimization</a:t>
            </a: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Predicts attendance trends using </a:t>
            </a:r>
            <a:r>
              <a:rPr lang="en-US" sz="160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iTransformer</a:t>
            </a: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forecasting</a:t>
            </a: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Integrates an AI chatbot for real-time event assistance</a:t>
            </a: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Provides a unified platform for organizers, vendors, and admins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34858" y="1900952"/>
            <a:ext cx="6357818" cy="2757368"/>
          </a:xfrm>
          <a:prstGeom prst="roundRect">
            <a:avLst>
              <a:gd name="adj" fmla="val 1302"/>
            </a:avLst>
          </a:prstGeom>
          <a:solidFill>
            <a:srgbClr val="2B29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674173" y="201697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74173" y="2368926"/>
            <a:ext cx="5879187" cy="1783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GB" sz="1600" dirty="0" err="1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XSimGCL</a:t>
            </a:r>
            <a:r>
              <a:rPr lang="en-GB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personalized recommendations for returning users</a:t>
            </a: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GB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GNN-CF — cold-start recommendations for new users</a:t>
            </a: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GB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GAT+K-Means — community detection and event clustering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7039" y="506808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77039" y="5647079"/>
            <a:ext cx="12954952" cy="1783199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da-DK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MOEA/D (Zhang &amp; Li, 2007, IEEE)</a:t>
            </a: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da-DK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MOEA/D-DRA-NEF (Tan et al., 2025, IEEE)</a:t>
            </a: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da-DK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iTransformer (Liu et al., 2024, ICLR)</a:t>
            </a: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da-DK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Informer (Zhou et al., 2021, AAAI)</a:t>
            </a: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da-DK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LightGCN (He et al., 2020, SIGIR)</a:t>
            </a: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da-DK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XSimGCL (Yu et al., 2024, IEEE TKDE)</a:t>
            </a:r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da-DK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GAT (Veličković et al., 2018, ICLR)</a:t>
            </a:r>
            <a:endParaRPr lang="en-US" sz="18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B6C268-4089-9900-A572-CE68F2A8390E}"/>
              </a:ext>
            </a:extLst>
          </p:cNvPr>
          <p:cNvSpPr/>
          <p:nvPr/>
        </p:nvSpPr>
        <p:spPr>
          <a:xfrm>
            <a:off x="12760503" y="7772400"/>
            <a:ext cx="1767156" cy="351578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1026</Words>
  <Application>Microsoft Office PowerPoint</Application>
  <PresentationFormat>Custom</PresentationFormat>
  <Paragraphs>146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Arimo</vt:lpstr>
      <vt:lpstr>Arial</vt:lpstr>
      <vt:lpstr>Syne Bold</vt:lpstr>
      <vt:lpstr>Syne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Girish R V</cp:lastModifiedBy>
  <cp:revision>2</cp:revision>
  <dcterms:created xsi:type="dcterms:W3CDTF">2026-04-08T17:33:24Z</dcterms:created>
  <dcterms:modified xsi:type="dcterms:W3CDTF">2026-04-08T18:27:49Z</dcterms:modified>
</cp:coreProperties>
</file>